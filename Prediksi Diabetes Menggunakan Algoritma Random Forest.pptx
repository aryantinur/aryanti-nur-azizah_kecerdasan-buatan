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omorrow" charset="1" panose="00000000000000000000"/>
      <p:regular r:id="rId16"/>
    </p:embeddedFont>
    <p:embeddedFont>
      <p:font typeface="Architype Van Der Leck" charset="1" panose="0200060003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6.png" Type="http://schemas.openxmlformats.org/officeDocument/2006/relationships/image"/><Relationship Id="rId6"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45893" y="2815290"/>
            <a:ext cx="13796213" cy="4656421"/>
            <a:chOff x="0" y="0"/>
            <a:chExt cx="3633571" cy="1226382"/>
          </a:xfrm>
        </p:grpSpPr>
        <p:sp>
          <p:nvSpPr>
            <p:cNvPr name="Freeform 4" id="4"/>
            <p:cNvSpPr/>
            <p:nvPr/>
          </p:nvSpPr>
          <p:spPr>
            <a:xfrm flipH="false" flipV="false" rot="0">
              <a:off x="0" y="0"/>
              <a:ext cx="3633570" cy="1226382"/>
            </a:xfrm>
            <a:custGeom>
              <a:avLst/>
              <a:gdLst/>
              <a:ahLst/>
              <a:cxnLst/>
              <a:rect r="r" b="b" t="t" l="l"/>
              <a:pathLst>
                <a:path h="1226382" w="3633570">
                  <a:moveTo>
                    <a:pt x="0" y="0"/>
                  </a:moveTo>
                  <a:lnTo>
                    <a:pt x="3633570" y="0"/>
                  </a:lnTo>
                  <a:lnTo>
                    <a:pt x="3633570" y="1226382"/>
                  </a:lnTo>
                  <a:lnTo>
                    <a:pt x="0" y="1226382"/>
                  </a:lnTo>
                  <a:close/>
                </a:path>
              </a:pathLst>
            </a:custGeom>
            <a:solidFill>
              <a:srgbClr val="FFFFFF">
                <a:alpha val="10980"/>
              </a:srgbClr>
            </a:solidFill>
          </p:spPr>
        </p:sp>
        <p:sp>
          <p:nvSpPr>
            <p:cNvPr name="TextBox 5" id="5"/>
            <p:cNvSpPr txBox="true"/>
            <p:nvPr/>
          </p:nvSpPr>
          <p:spPr>
            <a:xfrm>
              <a:off x="0" y="-47625"/>
              <a:ext cx="3633571" cy="127400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304065">
            <a:off x="1156142" y="1120447"/>
            <a:ext cx="2686742" cy="3001440"/>
          </a:xfrm>
          <a:custGeom>
            <a:avLst/>
            <a:gdLst/>
            <a:ahLst/>
            <a:cxnLst/>
            <a:rect r="r" b="b" t="t" l="l"/>
            <a:pathLst>
              <a:path h="3001440" w="2686742">
                <a:moveTo>
                  <a:pt x="0" y="0"/>
                </a:moveTo>
                <a:lnTo>
                  <a:pt x="2686741" y="0"/>
                </a:lnTo>
                <a:lnTo>
                  <a:pt x="2686741" y="3001441"/>
                </a:lnTo>
                <a:lnTo>
                  <a:pt x="0" y="300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1450">
            <a:off x="14149825" y="6104506"/>
            <a:ext cx="2615300" cy="2761785"/>
          </a:xfrm>
          <a:custGeom>
            <a:avLst/>
            <a:gdLst/>
            <a:ahLst/>
            <a:cxnLst/>
            <a:rect r="r" b="b" t="t" l="l"/>
            <a:pathLst>
              <a:path h="2761785" w="2615300">
                <a:moveTo>
                  <a:pt x="0" y="0"/>
                </a:moveTo>
                <a:lnTo>
                  <a:pt x="2615300" y="0"/>
                </a:lnTo>
                <a:lnTo>
                  <a:pt x="2615300" y="2761785"/>
                </a:lnTo>
                <a:lnTo>
                  <a:pt x="0" y="27617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943935" y="5288319"/>
            <a:ext cx="12400129" cy="762000"/>
          </a:xfrm>
          <a:prstGeom prst="rect">
            <a:avLst/>
          </a:prstGeom>
        </p:spPr>
        <p:txBody>
          <a:bodyPr anchor="t" rtlCol="false" tIns="0" lIns="0" bIns="0" rIns="0">
            <a:spAutoFit/>
          </a:bodyPr>
          <a:lstStyle/>
          <a:p>
            <a:pPr algn="ctr">
              <a:lnSpc>
                <a:spcPts val="6299"/>
              </a:lnSpc>
            </a:pPr>
            <a:r>
              <a:rPr lang="en-US" sz="4500">
                <a:solidFill>
                  <a:srgbClr val="FFFFFF"/>
                </a:solidFill>
                <a:latin typeface="Tomorrow"/>
                <a:ea typeface="Tomorrow"/>
                <a:cs typeface="Tomorrow"/>
                <a:sym typeface="Tomorrow"/>
              </a:rPr>
              <a:t> Menggunakan Algoritma Random Forest</a:t>
            </a:r>
          </a:p>
        </p:txBody>
      </p:sp>
      <p:sp>
        <p:nvSpPr>
          <p:cNvPr name="TextBox 9" id="9"/>
          <p:cNvSpPr txBox="true"/>
          <p:nvPr/>
        </p:nvSpPr>
        <p:spPr>
          <a:xfrm rot="0">
            <a:off x="2327782" y="4059437"/>
            <a:ext cx="13676872" cy="1276351"/>
          </a:xfrm>
          <a:prstGeom prst="rect">
            <a:avLst/>
          </a:prstGeom>
        </p:spPr>
        <p:txBody>
          <a:bodyPr anchor="t" rtlCol="false" tIns="0" lIns="0" bIns="0" rIns="0">
            <a:spAutoFit/>
          </a:bodyPr>
          <a:lstStyle/>
          <a:p>
            <a:pPr algn="ctr" marL="0" indent="0" lvl="0">
              <a:lnSpc>
                <a:spcPts val="10499"/>
              </a:lnSpc>
              <a:spcBef>
                <a:spcPct val="0"/>
              </a:spcBef>
            </a:pPr>
            <a:r>
              <a:rPr lang="en-US" sz="7499">
                <a:solidFill>
                  <a:srgbClr val="FFFFFF"/>
                </a:solidFill>
                <a:latin typeface="Architype Van Der Leck"/>
                <a:ea typeface="Architype Van Der Leck"/>
                <a:cs typeface="Architype Van Der Leck"/>
                <a:sym typeface="Architype Van Der Leck"/>
              </a:rPr>
              <a:t>Prediksi Diabetes </a:t>
            </a:r>
          </a:p>
        </p:txBody>
      </p:sp>
      <p:sp>
        <p:nvSpPr>
          <p:cNvPr name="Freeform 10" id="10"/>
          <p:cNvSpPr/>
          <p:nvPr/>
        </p:nvSpPr>
        <p:spPr>
          <a:xfrm flipH="false" flipV="false" rot="0">
            <a:off x="-496166" y="7993829"/>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sp>
        <p:nvSpPr>
          <p:cNvPr name="Freeform 11" id="11"/>
          <p:cNvSpPr/>
          <p:nvPr/>
        </p:nvSpPr>
        <p:spPr>
          <a:xfrm flipH="false" flipV="false" rot="-10800000">
            <a:off x="14192633" y="-235771"/>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grpSp>
        <p:nvGrpSpPr>
          <p:cNvPr name="Group 12" id="12"/>
          <p:cNvGrpSpPr/>
          <p:nvPr/>
        </p:nvGrpSpPr>
        <p:grpSpPr>
          <a:xfrm rot="0">
            <a:off x="15729015" y="4202312"/>
            <a:ext cx="626183" cy="620693"/>
            <a:chOff x="0" y="0"/>
            <a:chExt cx="164921" cy="163475"/>
          </a:xfrm>
        </p:grpSpPr>
        <p:sp>
          <p:nvSpPr>
            <p:cNvPr name="Freeform 13" id="13"/>
            <p:cNvSpPr/>
            <p:nvPr/>
          </p:nvSpPr>
          <p:spPr>
            <a:xfrm flipH="false" flipV="false" rot="0">
              <a:off x="0" y="0"/>
              <a:ext cx="164921" cy="163475"/>
            </a:xfrm>
            <a:custGeom>
              <a:avLst/>
              <a:gdLst/>
              <a:ahLst/>
              <a:cxnLst/>
              <a:rect r="r" b="b" t="t" l="l"/>
              <a:pathLst>
                <a:path h="163475" w="164921">
                  <a:moveTo>
                    <a:pt x="0" y="0"/>
                  </a:moveTo>
                  <a:lnTo>
                    <a:pt x="164921" y="0"/>
                  </a:lnTo>
                  <a:lnTo>
                    <a:pt x="164921" y="163475"/>
                  </a:lnTo>
                  <a:lnTo>
                    <a:pt x="0" y="163475"/>
                  </a:lnTo>
                  <a:close/>
                </a:path>
              </a:pathLst>
            </a:custGeom>
            <a:solidFill>
              <a:srgbClr val="0054C5"/>
            </a:solidFill>
          </p:spPr>
        </p:sp>
        <p:sp>
          <p:nvSpPr>
            <p:cNvPr name="TextBox 14" id="14"/>
            <p:cNvSpPr txBox="true"/>
            <p:nvPr/>
          </p:nvSpPr>
          <p:spPr>
            <a:xfrm>
              <a:off x="0" y="-47625"/>
              <a:ext cx="164921" cy="2111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787048" y="5143500"/>
            <a:ext cx="418486" cy="397926"/>
            <a:chOff x="0" y="0"/>
            <a:chExt cx="110219" cy="104803"/>
          </a:xfrm>
        </p:grpSpPr>
        <p:sp>
          <p:nvSpPr>
            <p:cNvPr name="Freeform 16" id="16"/>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17" id="17"/>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936712" y="5668780"/>
            <a:ext cx="291131" cy="270571"/>
            <a:chOff x="0" y="0"/>
            <a:chExt cx="76677" cy="71261"/>
          </a:xfrm>
        </p:grpSpPr>
        <p:sp>
          <p:nvSpPr>
            <p:cNvPr name="Freeform 19" id="19"/>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0" id="20"/>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036650" y="6169297"/>
            <a:ext cx="418486" cy="397926"/>
            <a:chOff x="0" y="0"/>
            <a:chExt cx="110219" cy="104803"/>
          </a:xfrm>
        </p:grpSpPr>
        <p:sp>
          <p:nvSpPr>
            <p:cNvPr name="Freeform 22" id="22"/>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23" id="23"/>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652804" y="6886583"/>
            <a:ext cx="291131" cy="270571"/>
            <a:chOff x="0" y="0"/>
            <a:chExt cx="76677" cy="71261"/>
          </a:xfrm>
        </p:grpSpPr>
        <p:sp>
          <p:nvSpPr>
            <p:cNvPr name="Freeform 25" id="25"/>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6" id="26"/>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036650" y="7350113"/>
            <a:ext cx="291131" cy="270571"/>
            <a:chOff x="0" y="0"/>
            <a:chExt cx="76677" cy="71261"/>
          </a:xfrm>
        </p:grpSpPr>
        <p:sp>
          <p:nvSpPr>
            <p:cNvPr name="Freeform 28" id="28"/>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9" id="29"/>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2966153" y="7544484"/>
            <a:ext cx="12400129" cy="533400"/>
          </a:xfrm>
          <a:prstGeom prst="rect">
            <a:avLst/>
          </a:prstGeom>
        </p:spPr>
        <p:txBody>
          <a:bodyPr anchor="t" rtlCol="false" tIns="0" lIns="0" bIns="0" rIns="0">
            <a:spAutoFit/>
          </a:bodyPr>
          <a:lstStyle/>
          <a:p>
            <a:pPr algn="ctr">
              <a:lnSpc>
                <a:spcPts val="4200"/>
              </a:lnSpc>
            </a:pPr>
            <a:r>
              <a:rPr lang="en-US" sz="3000">
                <a:solidFill>
                  <a:srgbClr val="FFFFFF"/>
                </a:solidFill>
                <a:latin typeface="Tomorrow"/>
                <a:ea typeface="Tomorrow"/>
                <a:cs typeface="Tomorrow"/>
                <a:sym typeface="Tomorrow"/>
              </a:rPr>
              <a:t>Aryanti Nur Azizah 245060301111016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943935" y="3139299"/>
            <a:ext cx="12400129" cy="1092713"/>
          </a:xfrm>
          <a:prstGeom prst="rect">
            <a:avLst/>
          </a:prstGeom>
        </p:spPr>
        <p:txBody>
          <a:bodyPr anchor="t" rtlCol="false" tIns="0" lIns="0" bIns="0" rIns="0">
            <a:spAutoFit/>
          </a:bodyPr>
          <a:lstStyle/>
          <a:p>
            <a:pPr algn="ctr">
              <a:lnSpc>
                <a:spcPts val="9071"/>
              </a:lnSpc>
            </a:pPr>
            <a:r>
              <a:rPr lang="en-US" sz="6479">
                <a:solidFill>
                  <a:srgbClr val="FFFFFF"/>
                </a:solidFill>
                <a:latin typeface="Architype Van Der Leck"/>
                <a:ea typeface="Architype Van Der Leck"/>
                <a:cs typeface="Architype Van Der Leck"/>
                <a:sym typeface="Architype Van Der Leck"/>
              </a:rPr>
              <a:t>Latar belakang</a:t>
            </a:r>
          </a:p>
        </p:txBody>
      </p:sp>
      <p:sp>
        <p:nvSpPr>
          <p:cNvPr name="TextBox 11" id="11"/>
          <p:cNvSpPr txBox="true"/>
          <p:nvPr/>
        </p:nvSpPr>
        <p:spPr>
          <a:xfrm rot="0">
            <a:off x="3630536" y="4631192"/>
            <a:ext cx="11026929" cy="2223135"/>
          </a:xfrm>
          <a:prstGeom prst="rect">
            <a:avLst/>
          </a:prstGeom>
        </p:spPr>
        <p:txBody>
          <a:bodyPr anchor="t" rtlCol="false" tIns="0" lIns="0" bIns="0" rIns="0">
            <a:spAutoFit/>
          </a:bodyPr>
          <a:lstStyle/>
          <a:p>
            <a:pPr algn="just">
              <a:lnSpc>
                <a:spcPts val="2940"/>
              </a:lnSpc>
            </a:pPr>
            <a:r>
              <a:rPr lang="en-US" sz="2100">
                <a:solidFill>
                  <a:srgbClr val="FFFFFF"/>
                </a:solidFill>
                <a:latin typeface="Tomorrow"/>
                <a:ea typeface="Tomorrow"/>
                <a:cs typeface="Tomorrow"/>
                <a:sym typeface="Tomorrow"/>
              </a:rPr>
              <a:t>Diabetes merupakan salah satu penyakit yang banyak diderita masyarakat dan dapat menyebabkan berbagai komplikasi kesehatan. Penyakit ini terjadi ketika kadar gula darah dalam tubuh berada pada tingkat yang tinggi. Dengan memanfaatkan Machine Learning, data kesehatan pasien dapat digunakan untuk membantu memprediksi kemungkinan seseorang menderita diabetes. Teknologi ini dapat membantu proses deteksi dini sehingga penanganan dapat dilakukan lebih cepat dan tepat.</a:t>
            </a:r>
          </a:p>
        </p:txBody>
      </p:sp>
      <p:grpSp>
        <p:nvGrpSpPr>
          <p:cNvPr name="Group 12" id="12"/>
          <p:cNvGrpSpPr/>
          <p:nvPr/>
        </p:nvGrpSpPr>
        <p:grpSpPr>
          <a:xfrm rot="0">
            <a:off x="16250742" y="2393082"/>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721829" y="1579328"/>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69070" y="6854327"/>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333412" y="7516926"/>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824528" y="2654593"/>
            <a:ext cx="7419834" cy="5954269"/>
            <a:chOff x="0" y="0"/>
            <a:chExt cx="1954195" cy="1568203"/>
          </a:xfrm>
        </p:grpSpPr>
        <p:sp>
          <p:nvSpPr>
            <p:cNvPr name="Freeform 4" id="4"/>
            <p:cNvSpPr/>
            <p:nvPr/>
          </p:nvSpPr>
          <p:spPr>
            <a:xfrm flipH="false" flipV="false" rot="0">
              <a:off x="0" y="0"/>
              <a:ext cx="1954195" cy="1568203"/>
            </a:xfrm>
            <a:custGeom>
              <a:avLst/>
              <a:gdLst/>
              <a:ahLst/>
              <a:cxnLst/>
              <a:rect r="r" b="b" t="t" l="l"/>
              <a:pathLst>
                <a:path h="1568203" w="1954195">
                  <a:moveTo>
                    <a:pt x="0" y="0"/>
                  </a:moveTo>
                  <a:lnTo>
                    <a:pt x="1954195" y="0"/>
                  </a:lnTo>
                  <a:lnTo>
                    <a:pt x="1954195" y="1568203"/>
                  </a:lnTo>
                  <a:lnTo>
                    <a:pt x="0" y="1568203"/>
                  </a:lnTo>
                  <a:close/>
                </a:path>
              </a:pathLst>
            </a:custGeom>
            <a:solidFill>
              <a:srgbClr val="FFFFFF">
                <a:alpha val="10980"/>
              </a:srgbClr>
            </a:solidFill>
          </p:spPr>
        </p:sp>
        <p:sp>
          <p:nvSpPr>
            <p:cNvPr name="TextBox 5" id="5"/>
            <p:cNvSpPr txBox="true"/>
            <p:nvPr/>
          </p:nvSpPr>
          <p:spPr>
            <a:xfrm>
              <a:off x="0" y="-47625"/>
              <a:ext cx="1954195" cy="161582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572375" y="3236143"/>
            <a:ext cx="8866694"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Tujuan</a:t>
            </a:r>
          </a:p>
        </p:txBody>
      </p:sp>
      <p:sp>
        <p:nvSpPr>
          <p:cNvPr name="Freeform 7" id="7"/>
          <p:cNvSpPr/>
          <p:nvPr/>
        </p:nvSpPr>
        <p:spPr>
          <a:xfrm flipH="false" flipV="false" rot="0">
            <a:off x="10314226" y="3176179"/>
            <a:ext cx="5973130" cy="4911097"/>
          </a:xfrm>
          <a:custGeom>
            <a:avLst/>
            <a:gdLst/>
            <a:ahLst/>
            <a:cxnLst/>
            <a:rect r="r" b="b" t="t" l="l"/>
            <a:pathLst>
              <a:path h="4911097" w="5973130">
                <a:moveTo>
                  <a:pt x="0" y="0"/>
                </a:moveTo>
                <a:lnTo>
                  <a:pt x="5973130" y="0"/>
                </a:lnTo>
                <a:lnTo>
                  <a:pt x="5973130" y="4911097"/>
                </a:lnTo>
                <a:lnTo>
                  <a:pt x="0" y="49110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983496" y="-868048"/>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0">
            <a:off x="9052685" y="7188490"/>
            <a:ext cx="310192" cy="299142"/>
            <a:chOff x="0" y="0"/>
            <a:chExt cx="81697" cy="78786"/>
          </a:xfrm>
        </p:grpSpPr>
        <p:sp>
          <p:nvSpPr>
            <p:cNvPr name="Freeform 10" id="1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1" id="1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817027" y="7851090"/>
            <a:ext cx="310192" cy="299142"/>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50506" y="2256306"/>
            <a:ext cx="747321" cy="768415"/>
            <a:chOff x="0" y="0"/>
            <a:chExt cx="196825" cy="202381"/>
          </a:xfrm>
        </p:grpSpPr>
        <p:sp>
          <p:nvSpPr>
            <p:cNvPr name="Freeform 16" id="16"/>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7" id="17"/>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715608" y="3528171"/>
            <a:ext cx="626183" cy="566519"/>
            <a:chOff x="0" y="0"/>
            <a:chExt cx="164921" cy="149207"/>
          </a:xfrm>
        </p:grpSpPr>
        <p:sp>
          <p:nvSpPr>
            <p:cNvPr name="Freeform 19" id="19"/>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20" id="20"/>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369038" y="1916294"/>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097827" y="4563406"/>
            <a:ext cx="6635406" cy="343725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Tomorrow"/>
                <a:ea typeface="Tomorrow"/>
                <a:cs typeface="Tomorrow"/>
                <a:sym typeface="Tomorrow"/>
              </a:rPr>
              <a:t>Membangun model Machine Learning untuk memprediksi diabetes.</a:t>
            </a:r>
          </a:p>
          <a:p>
            <a:pPr algn="just" marL="539749" indent="-269875" lvl="1">
              <a:lnSpc>
                <a:spcPts val="3499"/>
              </a:lnSpc>
              <a:buFont typeface="Arial"/>
              <a:buChar char="•"/>
            </a:pPr>
            <a:r>
              <a:rPr lang="en-US" sz="2499">
                <a:solidFill>
                  <a:srgbClr val="FFFFFF"/>
                </a:solidFill>
                <a:latin typeface="Tomorrow"/>
                <a:ea typeface="Tomorrow"/>
                <a:cs typeface="Tomorrow"/>
                <a:sym typeface="Tomorrow"/>
              </a:rPr>
              <a:t>Melakukan preprocessing, training, testing, dan evaluasi model.</a:t>
            </a:r>
          </a:p>
          <a:p>
            <a:pPr algn="just" marL="539749" indent="-269875" lvl="1">
              <a:lnSpc>
                <a:spcPts val="3499"/>
              </a:lnSpc>
              <a:buFont typeface="Arial"/>
              <a:buChar char="•"/>
            </a:pPr>
            <a:r>
              <a:rPr lang="en-US" sz="2499">
                <a:solidFill>
                  <a:srgbClr val="FFFFFF"/>
                </a:solidFill>
                <a:latin typeface="Tomorrow"/>
                <a:ea typeface="Tomorrow"/>
                <a:cs typeface="Tomorrow"/>
                <a:sym typeface="Tomorrow"/>
              </a:rPr>
              <a:t>Mengukur performa model menggunakan beberapa metrik evaluasi</a:t>
            </a:r>
          </a:p>
          <a:p>
            <a:pPr algn="just">
              <a:lnSpc>
                <a:spcPts val="29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183796" y="1024972"/>
            <a:ext cx="12566730" cy="8233328"/>
            <a:chOff x="0" y="0"/>
            <a:chExt cx="3309756" cy="2168449"/>
          </a:xfrm>
        </p:grpSpPr>
        <p:sp>
          <p:nvSpPr>
            <p:cNvPr name="Freeform 4" id="4"/>
            <p:cNvSpPr/>
            <p:nvPr/>
          </p:nvSpPr>
          <p:spPr>
            <a:xfrm flipH="false" flipV="false" rot="0">
              <a:off x="0" y="0"/>
              <a:ext cx="3309756" cy="2168449"/>
            </a:xfrm>
            <a:custGeom>
              <a:avLst/>
              <a:gdLst/>
              <a:ahLst/>
              <a:cxnLst/>
              <a:rect r="r" b="b" t="t" l="l"/>
              <a:pathLst>
                <a:path h="2168449" w="3309756">
                  <a:moveTo>
                    <a:pt x="0" y="0"/>
                  </a:moveTo>
                  <a:lnTo>
                    <a:pt x="3309756" y="0"/>
                  </a:lnTo>
                  <a:lnTo>
                    <a:pt x="3309756" y="2168449"/>
                  </a:lnTo>
                  <a:lnTo>
                    <a:pt x="0" y="2168449"/>
                  </a:lnTo>
                  <a:close/>
                </a:path>
              </a:pathLst>
            </a:custGeom>
            <a:solidFill>
              <a:srgbClr val="FFFFFF">
                <a:alpha val="10980"/>
              </a:srgbClr>
            </a:solidFill>
          </p:spPr>
        </p:sp>
        <p:sp>
          <p:nvSpPr>
            <p:cNvPr name="TextBox 5" id="5"/>
            <p:cNvSpPr txBox="true"/>
            <p:nvPr/>
          </p:nvSpPr>
          <p:spPr>
            <a:xfrm>
              <a:off x="0" y="-47625"/>
              <a:ext cx="3309756" cy="221607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810448" y="1800978"/>
            <a:ext cx="9813147"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DATASET</a:t>
            </a:r>
          </a:p>
        </p:txBody>
      </p:sp>
      <p:sp>
        <p:nvSpPr>
          <p:cNvPr name="TextBox 7" id="7"/>
          <p:cNvSpPr txBox="true"/>
          <p:nvPr/>
        </p:nvSpPr>
        <p:spPr>
          <a:xfrm rot="0">
            <a:off x="1810448" y="3198801"/>
            <a:ext cx="10769961" cy="4375150"/>
          </a:xfrm>
          <a:prstGeom prst="rect">
            <a:avLst/>
          </a:prstGeom>
        </p:spPr>
        <p:txBody>
          <a:bodyPr anchor="t" rtlCol="false" tIns="0" lIns="0" bIns="0" rIns="0">
            <a:spAutoFit/>
          </a:bodyPr>
          <a:lstStyle/>
          <a:p>
            <a:pPr algn="l">
              <a:lnSpc>
                <a:spcPts val="3499"/>
              </a:lnSpc>
            </a:pPr>
            <a:r>
              <a:rPr lang="en-US" sz="2499">
                <a:solidFill>
                  <a:srgbClr val="FFFFFF"/>
                </a:solidFill>
                <a:latin typeface="Tomorrow"/>
                <a:ea typeface="Tomorrow"/>
                <a:cs typeface="Tomorrow"/>
                <a:sym typeface="Tomorrow"/>
              </a:rPr>
              <a:t>Dataset yang digunakan dalam penelitian ini adalah Pima Indians Diabetes Dataset yang terdiri dari 768 data pasien. Dataset tersebut memiliki delapan fitur yang digunakan sebagai variabel prediktor, yaitu Pregnancies, Glucose, BloodPressure, SkinThickness, Insulin, BMI, DiabetesPedigreeFunction, dan Age. Selain itu, dataset ini memiliki satu variabel target yaitu Outcome, di mana nilai 0 menunjukkan pasien tidak menderita diabetes dan nilai 1 menunjukkan pasien menderita diabetes. Dataset ini banyak digunakan dalam penelitian Machine Learning karena memiliki data kesehatan yang relevan untuk membangun model prediksi diabetes.</a:t>
            </a:r>
          </a:p>
        </p:txBody>
      </p:sp>
      <p:sp>
        <p:nvSpPr>
          <p:cNvPr name="Freeform 8" id="8"/>
          <p:cNvSpPr/>
          <p:nvPr/>
        </p:nvSpPr>
        <p:spPr>
          <a:xfrm flipH="false" flipV="false" rot="0">
            <a:off x="12580409" y="4053761"/>
            <a:ext cx="4928490" cy="5204539"/>
          </a:xfrm>
          <a:custGeom>
            <a:avLst/>
            <a:gdLst/>
            <a:ahLst/>
            <a:cxnLst/>
            <a:rect r="r" b="b" t="t" l="l"/>
            <a:pathLst>
              <a:path h="5204539" w="4928490">
                <a:moveTo>
                  <a:pt x="0" y="0"/>
                </a:moveTo>
                <a:lnTo>
                  <a:pt x="4928490" y="0"/>
                </a:lnTo>
                <a:lnTo>
                  <a:pt x="4928490" y="5204539"/>
                </a:lnTo>
                <a:lnTo>
                  <a:pt x="0" y="52045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10" id="10"/>
          <p:cNvGrpSpPr/>
          <p:nvPr/>
        </p:nvGrpSpPr>
        <p:grpSpPr>
          <a:xfrm rot="0">
            <a:off x="870704" y="7189743"/>
            <a:ext cx="747321" cy="768415"/>
            <a:chOff x="0" y="0"/>
            <a:chExt cx="196825" cy="202381"/>
          </a:xfrm>
        </p:grpSpPr>
        <p:sp>
          <p:nvSpPr>
            <p:cNvPr name="Freeform 11" id="11"/>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2" id="12"/>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26739" y="9010736"/>
            <a:ext cx="626183" cy="566519"/>
            <a:chOff x="0" y="0"/>
            <a:chExt cx="164921" cy="149207"/>
          </a:xfrm>
        </p:grpSpPr>
        <p:sp>
          <p:nvSpPr>
            <p:cNvPr name="Freeform 14" id="14"/>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5" id="15"/>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24133" y="8600077"/>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79665" y="2006683"/>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4344007" y="2669282"/>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53028" y="2637209"/>
            <a:ext cx="9906272" cy="5450820"/>
            <a:chOff x="0" y="0"/>
            <a:chExt cx="2609059" cy="1435607"/>
          </a:xfrm>
        </p:grpSpPr>
        <p:sp>
          <p:nvSpPr>
            <p:cNvPr name="Freeform 4" id="4"/>
            <p:cNvSpPr/>
            <p:nvPr/>
          </p:nvSpPr>
          <p:spPr>
            <a:xfrm flipH="false" flipV="false" rot="0">
              <a:off x="0" y="0"/>
              <a:ext cx="2609059" cy="1435607"/>
            </a:xfrm>
            <a:custGeom>
              <a:avLst/>
              <a:gdLst/>
              <a:ahLst/>
              <a:cxnLst/>
              <a:rect r="r" b="b" t="t" l="l"/>
              <a:pathLst>
                <a:path h="1435607" w="2609059">
                  <a:moveTo>
                    <a:pt x="0" y="0"/>
                  </a:moveTo>
                  <a:lnTo>
                    <a:pt x="2609059" y="0"/>
                  </a:lnTo>
                  <a:lnTo>
                    <a:pt x="2609059" y="1435607"/>
                  </a:lnTo>
                  <a:lnTo>
                    <a:pt x="0" y="1435607"/>
                  </a:lnTo>
                  <a:close/>
                </a:path>
              </a:pathLst>
            </a:custGeom>
            <a:solidFill>
              <a:srgbClr val="FFFFFF">
                <a:alpha val="10980"/>
              </a:srgbClr>
            </a:solidFill>
          </p:spPr>
        </p:sp>
        <p:sp>
          <p:nvSpPr>
            <p:cNvPr name="TextBox 5" id="5"/>
            <p:cNvSpPr txBox="true"/>
            <p:nvPr/>
          </p:nvSpPr>
          <p:spPr>
            <a:xfrm>
              <a:off x="0" y="-47625"/>
              <a:ext cx="2609059" cy="148323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734988" y="2657589"/>
            <a:ext cx="9751387" cy="865219"/>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tahapan</a:t>
            </a:r>
          </a:p>
        </p:txBody>
      </p:sp>
      <p:sp>
        <p:nvSpPr>
          <p:cNvPr name="Freeform 7" id="7"/>
          <p:cNvSpPr/>
          <p:nvPr/>
        </p:nvSpPr>
        <p:spPr>
          <a:xfrm flipH="false" flipV="false" rot="0">
            <a:off x="-899330" y="7082729"/>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8" id="8"/>
          <p:cNvSpPr/>
          <p:nvPr/>
        </p:nvSpPr>
        <p:spPr>
          <a:xfrm flipH="false" flipV="false" rot="0">
            <a:off x="1786287" y="3221294"/>
            <a:ext cx="4356847" cy="4114800"/>
          </a:xfrm>
          <a:custGeom>
            <a:avLst/>
            <a:gdLst/>
            <a:ahLst/>
            <a:cxnLst/>
            <a:rect r="r" b="b" t="t" l="l"/>
            <a:pathLst>
              <a:path h="4114800" w="4356847">
                <a:moveTo>
                  <a:pt x="0" y="0"/>
                </a:moveTo>
                <a:lnTo>
                  <a:pt x="4356847" y="0"/>
                </a:lnTo>
                <a:lnTo>
                  <a:pt x="435684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444080">
            <a:off x="14076570" y="6494947"/>
            <a:ext cx="3529482" cy="3186163"/>
          </a:xfrm>
          <a:custGeom>
            <a:avLst/>
            <a:gdLst/>
            <a:ahLst/>
            <a:cxnLst/>
            <a:rect r="r" b="b" t="t" l="l"/>
            <a:pathLst>
              <a:path h="3186163" w="3529482">
                <a:moveTo>
                  <a:pt x="0" y="0"/>
                </a:moveTo>
                <a:lnTo>
                  <a:pt x="3529481" y="0"/>
                </a:lnTo>
                <a:lnTo>
                  <a:pt x="3529481" y="3186164"/>
                </a:lnTo>
                <a:lnTo>
                  <a:pt x="0" y="3186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505602" y="1365345"/>
            <a:ext cx="747321" cy="768415"/>
            <a:chOff x="0" y="0"/>
            <a:chExt cx="196825" cy="202381"/>
          </a:xfrm>
        </p:grpSpPr>
        <p:sp>
          <p:nvSpPr>
            <p:cNvPr name="Freeform 11" id="11"/>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2" id="12"/>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870704" y="2637209"/>
            <a:ext cx="626183" cy="566519"/>
            <a:chOff x="0" y="0"/>
            <a:chExt cx="164921" cy="149207"/>
          </a:xfrm>
        </p:grpSpPr>
        <p:sp>
          <p:nvSpPr>
            <p:cNvPr name="Freeform 14" id="14"/>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5" id="15"/>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24133" y="1025332"/>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666577" y="28386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86375" y="2988253"/>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7734988" y="3938844"/>
            <a:ext cx="10769961" cy="2622550"/>
          </a:xfrm>
          <a:prstGeom prst="rect">
            <a:avLst/>
          </a:prstGeom>
        </p:spPr>
        <p:txBody>
          <a:bodyPr anchor="t" rtlCol="false" tIns="0" lIns="0" bIns="0" rIns="0">
            <a:spAutoFit/>
          </a:bodyPr>
          <a:lstStyle/>
          <a:p>
            <a:pPr algn="l" marL="539748" indent="-269874" lvl="1">
              <a:lnSpc>
                <a:spcPts val="3499"/>
              </a:lnSpc>
              <a:buAutoNum type="arabicPeriod" startAt="1"/>
            </a:pPr>
            <a:r>
              <a:rPr lang="en-US" sz="2499">
                <a:solidFill>
                  <a:srgbClr val="FFFFFF"/>
                </a:solidFill>
                <a:latin typeface="Tomorrow"/>
                <a:ea typeface="Tomorrow"/>
                <a:cs typeface="Tomorrow"/>
                <a:sym typeface="Tomorrow"/>
              </a:rPr>
              <a:t>Data Collection</a:t>
            </a:r>
          </a:p>
          <a:p>
            <a:pPr algn="l" marL="539748" indent="-269874" lvl="1">
              <a:lnSpc>
                <a:spcPts val="3499"/>
              </a:lnSpc>
              <a:buAutoNum type="arabicPeriod" startAt="1"/>
            </a:pPr>
            <a:r>
              <a:rPr lang="en-US" sz="2499">
                <a:solidFill>
                  <a:srgbClr val="FFFFFF"/>
                </a:solidFill>
                <a:latin typeface="Tomorrow"/>
                <a:ea typeface="Tomorrow"/>
                <a:cs typeface="Tomorrow"/>
                <a:sym typeface="Tomorrow"/>
              </a:rPr>
              <a:t>Preprocessing</a:t>
            </a:r>
          </a:p>
          <a:p>
            <a:pPr algn="l" marL="539748" indent="-269874" lvl="1">
              <a:lnSpc>
                <a:spcPts val="3499"/>
              </a:lnSpc>
              <a:buAutoNum type="arabicPeriod" startAt="1"/>
            </a:pPr>
            <a:r>
              <a:rPr lang="en-US" sz="2499">
                <a:solidFill>
                  <a:srgbClr val="FFFFFF"/>
                </a:solidFill>
                <a:latin typeface="Tomorrow"/>
                <a:ea typeface="Tomorrow"/>
                <a:cs typeface="Tomorrow"/>
                <a:sym typeface="Tomorrow"/>
              </a:rPr>
              <a:t>Data Splitting</a:t>
            </a:r>
          </a:p>
          <a:p>
            <a:pPr algn="l" marL="539748" indent="-269874" lvl="1">
              <a:lnSpc>
                <a:spcPts val="3499"/>
              </a:lnSpc>
              <a:buAutoNum type="arabicPeriod" startAt="1"/>
            </a:pPr>
            <a:r>
              <a:rPr lang="en-US" sz="2499">
                <a:solidFill>
                  <a:srgbClr val="FFFFFF"/>
                </a:solidFill>
                <a:latin typeface="Tomorrow"/>
                <a:ea typeface="Tomorrow"/>
                <a:cs typeface="Tomorrow"/>
                <a:sym typeface="Tomorrow"/>
              </a:rPr>
              <a:t>Training Model</a:t>
            </a:r>
          </a:p>
          <a:p>
            <a:pPr algn="l" marL="539748" indent="-269874" lvl="1">
              <a:lnSpc>
                <a:spcPts val="3499"/>
              </a:lnSpc>
              <a:buAutoNum type="arabicPeriod" startAt="1"/>
            </a:pPr>
            <a:r>
              <a:rPr lang="en-US" sz="2499">
                <a:solidFill>
                  <a:srgbClr val="FFFFFF"/>
                </a:solidFill>
                <a:latin typeface="Tomorrow"/>
                <a:ea typeface="Tomorrow"/>
                <a:cs typeface="Tomorrow"/>
                <a:sym typeface="Tomorrow"/>
              </a:rPr>
              <a:t>Testing</a:t>
            </a:r>
          </a:p>
          <a:p>
            <a:pPr algn="l" marL="539748" indent="-269874" lvl="1">
              <a:lnSpc>
                <a:spcPts val="3499"/>
              </a:lnSpc>
              <a:buAutoNum type="arabicPeriod" startAt="1"/>
            </a:pPr>
            <a:r>
              <a:rPr lang="en-US" sz="2499">
                <a:solidFill>
                  <a:srgbClr val="FFFFFF"/>
                </a:solidFill>
                <a:latin typeface="Tomorrow"/>
                <a:ea typeface="Tomorrow"/>
                <a:cs typeface="Tomorrow"/>
                <a:sym typeface="Tomorrow"/>
              </a:rPr>
              <a:t>Evaluation</a:t>
            </a:r>
          </a:p>
        </p:txBody>
      </p:sp>
      <p:sp>
        <p:nvSpPr>
          <p:cNvPr name="TextBox 26" id="26"/>
          <p:cNvSpPr txBox="true"/>
          <p:nvPr/>
        </p:nvSpPr>
        <p:spPr>
          <a:xfrm rot="0">
            <a:off x="7770820" y="6749758"/>
            <a:ext cx="10769961" cy="869950"/>
          </a:xfrm>
          <a:prstGeom prst="rect">
            <a:avLst/>
          </a:prstGeom>
        </p:spPr>
        <p:txBody>
          <a:bodyPr anchor="t" rtlCol="false" tIns="0" lIns="0" bIns="0" rIns="0">
            <a:spAutoFit/>
          </a:bodyPr>
          <a:lstStyle/>
          <a:p>
            <a:pPr algn="l">
              <a:lnSpc>
                <a:spcPts val="3499"/>
              </a:lnSpc>
            </a:pPr>
            <a:r>
              <a:rPr lang="en-US" sz="2499">
                <a:solidFill>
                  <a:srgbClr val="FFFFFF"/>
                </a:solidFill>
                <a:latin typeface="Tomorrow"/>
                <a:ea typeface="Tomorrow"/>
                <a:cs typeface="Tomorrow"/>
                <a:sym typeface="Tomorrow"/>
              </a:rPr>
              <a:t>Algoritma yang digunakan:</a:t>
            </a:r>
          </a:p>
          <a:p>
            <a:pPr algn="l">
              <a:lnSpc>
                <a:spcPts val="3499"/>
              </a:lnSpc>
            </a:pPr>
            <a:r>
              <a:rPr lang="en-US" sz="2499">
                <a:solidFill>
                  <a:srgbClr val="FFFFFF"/>
                </a:solidFill>
                <a:latin typeface="Tomorrow"/>
                <a:ea typeface="Tomorrow"/>
                <a:cs typeface="Tomorrow"/>
                <a:sym typeface="Tomorrow"/>
              </a:rPr>
              <a:t>Random Forest Classifier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94347" y="1490163"/>
            <a:ext cx="13699307" cy="7306675"/>
            <a:chOff x="0" y="0"/>
            <a:chExt cx="3608048" cy="1924392"/>
          </a:xfrm>
        </p:grpSpPr>
        <p:sp>
          <p:nvSpPr>
            <p:cNvPr name="Freeform 4" id="4"/>
            <p:cNvSpPr/>
            <p:nvPr/>
          </p:nvSpPr>
          <p:spPr>
            <a:xfrm flipH="false" flipV="false" rot="0">
              <a:off x="0" y="0"/>
              <a:ext cx="3608048" cy="1924392"/>
            </a:xfrm>
            <a:custGeom>
              <a:avLst/>
              <a:gdLst/>
              <a:ahLst/>
              <a:cxnLst/>
              <a:rect r="r" b="b" t="t" l="l"/>
              <a:pathLst>
                <a:path h="1924392" w="3608048">
                  <a:moveTo>
                    <a:pt x="0" y="0"/>
                  </a:moveTo>
                  <a:lnTo>
                    <a:pt x="3608048" y="0"/>
                  </a:lnTo>
                  <a:lnTo>
                    <a:pt x="3608048" y="1924392"/>
                  </a:lnTo>
                  <a:lnTo>
                    <a:pt x="0" y="1924392"/>
                  </a:lnTo>
                  <a:close/>
                </a:path>
              </a:pathLst>
            </a:custGeom>
            <a:solidFill>
              <a:srgbClr val="FFFFFF">
                <a:alpha val="10980"/>
              </a:srgbClr>
            </a:solidFill>
          </p:spPr>
        </p:sp>
        <p:sp>
          <p:nvSpPr>
            <p:cNvPr name="TextBox 5" id="5"/>
            <p:cNvSpPr txBox="true"/>
            <p:nvPr/>
          </p:nvSpPr>
          <p:spPr>
            <a:xfrm>
              <a:off x="0" y="-47625"/>
              <a:ext cx="3608048"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3205" y="5143500"/>
            <a:ext cx="3313774" cy="3701917"/>
          </a:xfrm>
          <a:custGeom>
            <a:avLst/>
            <a:gdLst/>
            <a:ahLst/>
            <a:cxnLst/>
            <a:rect r="r" b="b" t="t" l="l"/>
            <a:pathLst>
              <a:path h="3701917" w="3313774">
                <a:moveTo>
                  <a:pt x="0" y="0"/>
                </a:moveTo>
                <a:lnTo>
                  <a:pt x="3313774" y="0"/>
                </a:lnTo>
                <a:lnTo>
                  <a:pt x="3313774" y="3701917"/>
                </a:lnTo>
                <a:lnTo>
                  <a:pt x="0" y="37019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296979" y="2319137"/>
            <a:ext cx="9694043" cy="870602"/>
          </a:xfrm>
          <a:prstGeom prst="rect">
            <a:avLst/>
          </a:prstGeom>
        </p:spPr>
        <p:txBody>
          <a:bodyPr anchor="t" rtlCol="false" tIns="0" lIns="0" bIns="0" rIns="0">
            <a:spAutoFit/>
          </a:bodyPr>
          <a:lstStyle/>
          <a:p>
            <a:pPr algn="ctr"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Preprocessing</a:t>
            </a:r>
          </a:p>
        </p:txBody>
      </p:sp>
      <p:sp>
        <p:nvSpPr>
          <p:cNvPr name="TextBox 8" id="8"/>
          <p:cNvSpPr txBox="true"/>
          <p:nvPr/>
        </p:nvSpPr>
        <p:spPr>
          <a:xfrm rot="0">
            <a:off x="3715389" y="3585246"/>
            <a:ext cx="10857222" cy="349885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Tahapan preprocessing dilakukan dengan memisahkan fitur dan target terlebih dahulu agar model dapat mempelajari hubungan antara data masukan dan label yang akan diprediksi. Selanjutnya, data dinormalisasi menggunakan StandardScaler untuk menyamakan skala setiap fitur sehingga proses pelatihan model menjadi lebih optimal. Setelah itu, dataset dibagi menjadi data training sebesar 80% dan data testing sebesar 20%, di mana data training digunakan untuk melatih model dan data testing digunakan untuk mengevaluasi kinerja model.</a:t>
            </a:r>
          </a:p>
        </p:txBody>
      </p:sp>
      <p:grpSp>
        <p:nvGrpSpPr>
          <p:cNvPr name="Group 9" id="9"/>
          <p:cNvGrpSpPr/>
          <p:nvPr/>
        </p:nvGrpSpPr>
        <p:grpSpPr>
          <a:xfrm rot="0">
            <a:off x="15619993" y="2805531"/>
            <a:ext cx="747321" cy="768415"/>
            <a:chOff x="0" y="0"/>
            <a:chExt cx="196825" cy="202381"/>
          </a:xfrm>
        </p:grpSpPr>
        <p:sp>
          <p:nvSpPr>
            <p:cNvPr name="Freeform 10" id="10"/>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1" id="11"/>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633117" y="3873847"/>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5386233" y="4128597"/>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89900" y="2264816"/>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139251" y="3040167"/>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83796" y="2890596"/>
            <a:ext cx="310192" cy="299142"/>
            <a:chOff x="0" y="0"/>
            <a:chExt cx="81697" cy="78786"/>
          </a:xfrm>
        </p:grpSpPr>
        <p:sp>
          <p:nvSpPr>
            <p:cNvPr name="Freeform 25" id="2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6" id="2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5"/>
            <a:stretch>
              <a:fillRect l="0" t="0" r="0" b="0"/>
            </a:stretch>
          </a:blipFill>
        </p:spPr>
      </p:sp>
      <p:sp>
        <p:nvSpPr>
          <p:cNvPr name="TextBox 28" id="28"/>
          <p:cNvSpPr txBox="true"/>
          <p:nvPr/>
        </p:nvSpPr>
        <p:spPr>
          <a:xfrm rot="0">
            <a:off x="3656979" y="7314575"/>
            <a:ext cx="10857222" cy="86995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Training Data: 614</a:t>
            </a:r>
          </a:p>
          <a:p>
            <a:pPr algn="just">
              <a:lnSpc>
                <a:spcPts val="3499"/>
              </a:lnSpc>
            </a:pPr>
            <a:r>
              <a:rPr lang="en-US" sz="2499">
                <a:solidFill>
                  <a:srgbClr val="FFFFFF"/>
                </a:solidFill>
                <a:latin typeface="Tomorrow"/>
                <a:ea typeface="Tomorrow"/>
                <a:cs typeface="Tomorrow"/>
                <a:sym typeface="Tomorrow"/>
              </a:rPr>
              <a:t>Testing Data: 154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07883" y="1762898"/>
            <a:ext cx="9951417" cy="7306675"/>
            <a:chOff x="0" y="0"/>
            <a:chExt cx="2620949" cy="1924392"/>
          </a:xfrm>
        </p:grpSpPr>
        <p:sp>
          <p:nvSpPr>
            <p:cNvPr name="Freeform 4" id="4"/>
            <p:cNvSpPr/>
            <p:nvPr/>
          </p:nvSpPr>
          <p:spPr>
            <a:xfrm flipH="false" flipV="false" rot="0">
              <a:off x="0" y="0"/>
              <a:ext cx="2620949" cy="1924392"/>
            </a:xfrm>
            <a:custGeom>
              <a:avLst/>
              <a:gdLst/>
              <a:ahLst/>
              <a:cxnLst/>
              <a:rect r="r" b="b" t="t" l="l"/>
              <a:pathLst>
                <a:path h="1924392" w="2620949">
                  <a:moveTo>
                    <a:pt x="0" y="0"/>
                  </a:moveTo>
                  <a:lnTo>
                    <a:pt x="2620949" y="0"/>
                  </a:lnTo>
                  <a:lnTo>
                    <a:pt x="2620949" y="1924392"/>
                  </a:lnTo>
                  <a:lnTo>
                    <a:pt x="0" y="1924392"/>
                  </a:lnTo>
                  <a:close/>
                </a:path>
              </a:pathLst>
            </a:custGeom>
            <a:solidFill>
              <a:srgbClr val="FFFFFF">
                <a:alpha val="10980"/>
              </a:srgbClr>
            </a:solidFill>
          </p:spPr>
        </p:sp>
        <p:sp>
          <p:nvSpPr>
            <p:cNvPr name="TextBox 5" id="5"/>
            <p:cNvSpPr txBox="true"/>
            <p:nvPr/>
          </p:nvSpPr>
          <p:spPr>
            <a:xfrm>
              <a:off x="0" y="-47625"/>
              <a:ext cx="2620949"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false" rot="-10800000">
            <a:off x="-665027" y="-732621"/>
            <a:ext cx="6304504" cy="3522642"/>
          </a:xfrm>
          <a:custGeom>
            <a:avLst/>
            <a:gdLst/>
            <a:ahLst/>
            <a:cxnLst/>
            <a:rect r="r" b="b" t="t" l="l"/>
            <a:pathLst>
              <a:path h="3522642" w="6304504">
                <a:moveTo>
                  <a:pt x="6304504" y="0"/>
                </a:moveTo>
                <a:lnTo>
                  <a:pt x="0" y="0"/>
                </a:lnTo>
                <a:lnTo>
                  <a:pt x="0" y="3522642"/>
                </a:lnTo>
                <a:lnTo>
                  <a:pt x="6304504" y="3522642"/>
                </a:lnTo>
                <a:lnTo>
                  <a:pt x="6304504" y="0"/>
                </a:lnTo>
                <a:close/>
              </a:path>
            </a:pathLst>
          </a:custGeom>
          <a:blipFill>
            <a:blip r:embed="rId3"/>
            <a:stretch>
              <a:fillRect l="0" t="0" r="0" b="0"/>
            </a:stretch>
          </a:blipFill>
        </p:spPr>
      </p:sp>
      <p:sp>
        <p:nvSpPr>
          <p:cNvPr name="Freeform 7" id="7"/>
          <p:cNvSpPr/>
          <p:nvPr/>
        </p:nvSpPr>
        <p:spPr>
          <a:xfrm flipH="false" flipV="false" rot="0">
            <a:off x="615110" y="4431004"/>
            <a:ext cx="5514422" cy="4638569"/>
          </a:xfrm>
          <a:custGeom>
            <a:avLst/>
            <a:gdLst/>
            <a:ahLst/>
            <a:cxnLst/>
            <a:rect r="r" b="b" t="t" l="l"/>
            <a:pathLst>
              <a:path h="4638569" w="5514422">
                <a:moveTo>
                  <a:pt x="0" y="0"/>
                </a:moveTo>
                <a:lnTo>
                  <a:pt x="5514422" y="0"/>
                </a:lnTo>
                <a:lnTo>
                  <a:pt x="5514422" y="4638569"/>
                </a:lnTo>
                <a:lnTo>
                  <a:pt x="0" y="4638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6139221" y="3290237"/>
            <a:ext cx="686516" cy="705894"/>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7083521" y="2507921"/>
            <a:ext cx="575234" cy="520425"/>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7531346" y="3856024"/>
            <a:ext cx="284953" cy="274803"/>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17116823" y="7881739"/>
            <a:ext cx="284953" cy="274803"/>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6383171" y="8506938"/>
            <a:ext cx="284953" cy="274803"/>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8059383" y="3706987"/>
            <a:ext cx="8773748" cy="3298929"/>
          </a:xfrm>
          <a:custGeom>
            <a:avLst/>
            <a:gdLst/>
            <a:ahLst/>
            <a:cxnLst/>
            <a:rect r="r" b="b" t="t" l="l"/>
            <a:pathLst>
              <a:path h="3298929" w="8773748">
                <a:moveTo>
                  <a:pt x="0" y="0"/>
                </a:moveTo>
                <a:lnTo>
                  <a:pt x="8773748" y="0"/>
                </a:lnTo>
                <a:lnTo>
                  <a:pt x="8773748" y="3298930"/>
                </a:lnTo>
                <a:lnTo>
                  <a:pt x="0" y="3298930"/>
                </a:lnTo>
                <a:lnTo>
                  <a:pt x="0" y="0"/>
                </a:lnTo>
                <a:close/>
              </a:path>
            </a:pathLst>
          </a:custGeom>
          <a:blipFill>
            <a:blip r:embed="rId6"/>
            <a:stretch>
              <a:fillRect l="0" t="0" r="0" b="0"/>
            </a:stretch>
          </a:blipFill>
        </p:spPr>
      </p:sp>
      <p:sp>
        <p:nvSpPr>
          <p:cNvPr name="TextBox 24" id="24"/>
          <p:cNvSpPr txBox="true"/>
          <p:nvPr/>
        </p:nvSpPr>
        <p:spPr>
          <a:xfrm rot="0">
            <a:off x="7967818" y="2385266"/>
            <a:ext cx="8956878"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Hasil evaluasi</a:t>
            </a:r>
          </a:p>
        </p:txBody>
      </p:sp>
      <p:sp>
        <p:nvSpPr>
          <p:cNvPr name="TextBox 25" id="25"/>
          <p:cNvSpPr txBox="true"/>
          <p:nvPr/>
        </p:nvSpPr>
        <p:spPr>
          <a:xfrm rot="0">
            <a:off x="8504269" y="7291667"/>
            <a:ext cx="7883978" cy="86995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Artinya model mampu memprediksi sekitar 73 dari setiap 100 data pasien dengan benar.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2322725" y="3036716"/>
            <a:ext cx="4748811" cy="5374819"/>
          </a:xfrm>
          <a:custGeom>
            <a:avLst/>
            <a:gdLst/>
            <a:ahLst/>
            <a:cxnLst/>
            <a:rect r="r" b="b" t="t" l="l"/>
            <a:pathLst>
              <a:path h="5374819" w="4748811">
                <a:moveTo>
                  <a:pt x="0" y="0"/>
                </a:moveTo>
                <a:lnTo>
                  <a:pt x="4748811" y="0"/>
                </a:lnTo>
                <a:lnTo>
                  <a:pt x="4748811" y="5374819"/>
                </a:lnTo>
                <a:lnTo>
                  <a:pt x="0" y="53748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384448" y="425911"/>
            <a:ext cx="9951417" cy="9598216"/>
            <a:chOff x="0" y="0"/>
            <a:chExt cx="2620949" cy="2527925"/>
          </a:xfrm>
        </p:grpSpPr>
        <p:sp>
          <p:nvSpPr>
            <p:cNvPr name="Freeform 5" id="5"/>
            <p:cNvSpPr/>
            <p:nvPr/>
          </p:nvSpPr>
          <p:spPr>
            <a:xfrm flipH="false" flipV="false" rot="0">
              <a:off x="0" y="0"/>
              <a:ext cx="2620949" cy="2527925"/>
            </a:xfrm>
            <a:custGeom>
              <a:avLst/>
              <a:gdLst/>
              <a:ahLst/>
              <a:cxnLst/>
              <a:rect r="r" b="b" t="t" l="l"/>
              <a:pathLst>
                <a:path h="2527925" w="2620949">
                  <a:moveTo>
                    <a:pt x="0" y="0"/>
                  </a:moveTo>
                  <a:lnTo>
                    <a:pt x="2620949" y="0"/>
                  </a:lnTo>
                  <a:lnTo>
                    <a:pt x="2620949" y="2527925"/>
                  </a:lnTo>
                  <a:lnTo>
                    <a:pt x="0" y="2527925"/>
                  </a:lnTo>
                  <a:close/>
                </a:path>
              </a:pathLst>
            </a:custGeom>
            <a:solidFill>
              <a:srgbClr val="FFFFFF">
                <a:alpha val="10980"/>
              </a:srgbClr>
            </a:solidFill>
          </p:spPr>
        </p:sp>
        <p:sp>
          <p:nvSpPr>
            <p:cNvPr name="TextBox 6" id="6"/>
            <p:cNvSpPr txBox="true"/>
            <p:nvPr/>
          </p:nvSpPr>
          <p:spPr>
            <a:xfrm>
              <a:off x="0" y="-47625"/>
              <a:ext cx="2620949" cy="257555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2322725" y="0"/>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8" id="8"/>
          <p:cNvGrpSpPr/>
          <p:nvPr/>
        </p:nvGrpSpPr>
        <p:grpSpPr>
          <a:xfrm rot="-5400000">
            <a:off x="197543" y="7565870"/>
            <a:ext cx="686516" cy="705894"/>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141843" y="6783554"/>
            <a:ext cx="575234" cy="520425"/>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589668" y="8131657"/>
            <a:ext cx="284953" cy="274803"/>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11177110" y="5106323"/>
            <a:ext cx="284953" cy="274803"/>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1686818" y="5729201"/>
            <a:ext cx="284953" cy="274803"/>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2259644" y="1697645"/>
            <a:ext cx="8201025" cy="8052962"/>
          </a:xfrm>
          <a:custGeom>
            <a:avLst/>
            <a:gdLst/>
            <a:ahLst/>
            <a:cxnLst/>
            <a:rect r="r" b="b" t="t" l="l"/>
            <a:pathLst>
              <a:path h="8052962" w="8201025">
                <a:moveTo>
                  <a:pt x="0" y="0"/>
                </a:moveTo>
                <a:lnTo>
                  <a:pt x="8201024" y="0"/>
                </a:lnTo>
                <a:lnTo>
                  <a:pt x="8201024" y="8052962"/>
                </a:lnTo>
                <a:lnTo>
                  <a:pt x="0" y="8052962"/>
                </a:lnTo>
                <a:lnTo>
                  <a:pt x="0" y="0"/>
                </a:lnTo>
                <a:close/>
              </a:path>
            </a:pathLst>
          </a:custGeom>
          <a:blipFill>
            <a:blip r:embed="rId6"/>
            <a:stretch>
              <a:fillRect l="0" t="0" r="-35097" b="0"/>
            </a:stretch>
          </a:blipFill>
        </p:spPr>
      </p:sp>
      <p:sp>
        <p:nvSpPr>
          <p:cNvPr name="TextBox 24" id="24"/>
          <p:cNvSpPr txBox="true"/>
          <p:nvPr/>
        </p:nvSpPr>
        <p:spPr>
          <a:xfrm rot="0">
            <a:off x="1691342" y="545774"/>
            <a:ext cx="9337629"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demo prediksi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805919" y="3007157"/>
            <a:ext cx="9180974" cy="5827191"/>
            <a:chOff x="0" y="0"/>
            <a:chExt cx="2418034" cy="1534733"/>
          </a:xfrm>
        </p:grpSpPr>
        <p:sp>
          <p:nvSpPr>
            <p:cNvPr name="Freeform 4" id="4"/>
            <p:cNvSpPr/>
            <p:nvPr/>
          </p:nvSpPr>
          <p:spPr>
            <a:xfrm flipH="false" flipV="false" rot="0">
              <a:off x="0" y="0"/>
              <a:ext cx="2418034" cy="1534733"/>
            </a:xfrm>
            <a:custGeom>
              <a:avLst/>
              <a:gdLst/>
              <a:ahLst/>
              <a:cxnLst/>
              <a:rect r="r" b="b" t="t" l="l"/>
              <a:pathLst>
                <a:path h="1534733" w="2418034">
                  <a:moveTo>
                    <a:pt x="0" y="0"/>
                  </a:moveTo>
                  <a:lnTo>
                    <a:pt x="2418034" y="0"/>
                  </a:lnTo>
                  <a:lnTo>
                    <a:pt x="2418034" y="1534733"/>
                  </a:lnTo>
                  <a:lnTo>
                    <a:pt x="0" y="1534733"/>
                  </a:lnTo>
                  <a:close/>
                </a:path>
              </a:pathLst>
            </a:custGeom>
            <a:solidFill>
              <a:srgbClr val="FFFFFF">
                <a:alpha val="10980"/>
              </a:srgbClr>
            </a:solidFill>
          </p:spPr>
        </p:sp>
        <p:sp>
          <p:nvSpPr>
            <p:cNvPr name="TextBox 5" id="5"/>
            <p:cNvSpPr txBox="true"/>
            <p:nvPr/>
          </p:nvSpPr>
          <p:spPr>
            <a:xfrm>
              <a:off x="0" y="-47625"/>
              <a:ext cx="2418034" cy="15823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5779" y="7073027"/>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7" id="7"/>
          <p:cNvSpPr/>
          <p:nvPr/>
        </p:nvSpPr>
        <p:spPr>
          <a:xfrm flipH="false" flipV="false" rot="0">
            <a:off x="1633596" y="3245184"/>
            <a:ext cx="5273292" cy="4704316"/>
          </a:xfrm>
          <a:custGeom>
            <a:avLst/>
            <a:gdLst/>
            <a:ahLst/>
            <a:cxnLst/>
            <a:rect r="r" b="b" t="t" l="l"/>
            <a:pathLst>
              <a:path h="4704316" w="5273292">
                <a:moveTo>
                  <a:pt x="0" y="0"/>
                </a:moveTo>
                <a:lnTo>
                  <a:pt x="5273292" y="0"/>
                </a:lnTo>
                <a:lnTo>
                  <a:pt x="5273292" y="4704316"/>
                </a:lnTo>
                <a:lnTo>
                  <a:pt x="0" y="47043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16721788" y="7136129"/>
            <a:ext cx="544528" cy="530497"/>
            <a:chOff x="0" y="0"/>
            <a:chExt cx="156117" cy="152094"/>
          </a:xfrm>
        </p:grpSpPr>
        <p:sp>
          <p:nvSpPr>
            <p:cNvPr name="Freeform 9" id="9"/>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0" id="10"/>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429611" y="7877361"/>
            <a:ext cx="427597" cy="438623"/>
            <a:chOff x="0" y="0"/>
            <a:chExt cx="122593" cy="125754"/>
          </a:xfrm>
        </p:grpSpPr>
        <p:sp>
          <p:nvSpPr>
            <p:cNvPr name="Freeform 12" id="12"/>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3" id="13"/>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19142" y="8311975"/>
            <a:ext cx="311166" cy="308157"/>
            <a:chOff x="0" y="0"/>
            <a:chExt cx="89212" cy="88349"/>
          </a:xfrm>
        </p:grpSpPr>
        <p:sp>
          <p:nvSpPr>
            <p:cNvPr name="Freeform 15" id="1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6" id="1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7650336" y="3710081"/>
            <a:ext cx="311166" cy="308157"/>
            <a:chOff x="0" y="0"/>
            <a:chExt cx="89212" cy="88349"/>
          </a:xfrm>
        </p:grpSpPr>
        <p:sp>
          <p:nvSpPr>
            <p:cNvPr name="Freeform 18" id="18"/>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9" id="19"/>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7958493" y="4796599"/>
            <a:ext cx="311166" cy="308157"/>
            <a:chOff x="0" y="0"/>
            <a:chExt cx="89212" cy="88349"/>
          </a:xfrm>
        </p:grpSpPr>
        <p:sp>
          <p:nvSpPr>
            <p:cNvPr name="Freeform 21" id="21"/>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2" id="22"/>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7200821" y="4408923"/>
            <a:ext cx="311166" cy="308157"/>
            <a:chOff x="0" y="0"/>
            <a:chExt cx="89212" cy="88349"/>
          </a:xfrm>
        </p:grpSpPr>
        <p:sp>
          <p:nvSpPr>
            <p:cNvPr name="Freeform 24" id="24"/>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5" id="25"/>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8629441" y="3924492"/>
            <a:ext cx="9187057"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Kesimpulan</a:t>
            </a:r>
          </a:p>
        </p:txBody>
      </p:sp>
      <p:sp>
        <p:nvSpPr>
          <p:cNvPr name="TextBox 27" id="27"/>
          <p:cNvSpPr txBox="true"/>
          <p:nvPr/>
        </p:nvSpPr>
        <p:spPr>
          <a:xfrm rot="0">
            <a:off x="8496334" y="5045498"/>
            <a:ext cx="7924313" cy="3051175"/>
          </a:xfrm>
          <a:prstGeom prst="rect">
            <a:avLst/>
          </a:prstGeom>
        </p:spPr>
        <p:txBody>
          <a:bodyPr anchor="t" rtlCol="false" tIns="0" lIns="0" bIns="0" rIns="0">
            <a:spAutoFit/>
          </a:bodyPr>
          <a:lstStyle/>
          <a:p>
            <a:pPr algn="just">
              <a:lnSpc>
                <a:spcPts val="3500"/>
              </a:lnSpc>
            </a:pPr>
            <a:r>
              <a:rPr lang="en-US" sz="2500">
                <a:solidFill>
                  <a:srgbClr val="FFFFFF"/>
                </a:solidFill>
                <a:latin typeface="Tomorrow"/>
                <a:ea typeface="Tomorrow"/>
                <a:cs typeface="Tomorrow"/>
                <a:sym typeface="Tomorrow"/>
              </a:rPr>
              <a:t>Model Random Forest berhasil digunakan untuk memprediksi diabetes menggunakan dataset Pima Indians Diabetes.</a:t>
            </a:r>
          </a:p>
          <a:p>
            <a:pPr algn="just">
              <a:lnSpc>
                <a:spcPts val="3500"/>
              </a:lnSpc>
            </a:pPr>
            <a:r>
              <a:rPr lang="en-US" sz="2500">
                <a:solidFill>
                  <a:srgbClr val="FFFFFF"/>
                </a:solidFill>
                <a:latin typeface="Tomorrow"/>
                <a:ea typeface="Tomorrow"/>
                <a:cs typeface="Tomorrow"/>
                <a:sym typeface="Tomorrow"/>
              </a:rPr>
              <a:t>Model memperoleh akurasi sebesar 72.73%.</a:t>
            </a:r>
          </a:p>
          <a:p>
            <a:pPr algn="just">
              <a:lnSpc>
                <a:spcPts val="3500"/>
              </a:lnSpc>
            </a:pPr>
            <a:r>
              <a:rPr lang="en-US" sz="2500">
                <a:solidFill>
                  <a:srgbClr val="FFFFFF"/>
                </a:solidFill>
                <a:latin typeface="Tomorrow"/>
                <a:ea typeface="Tomorrow"/>
                <a:cs typeface="Tomorrow"/>
                <a:sym typeface="Tomorrow"/>
              </a:rPr>
              <a:t>Meskipun masih terdapat beberapa kesalahan prediksi, model telah mampu mengenali pola data dan menghasilkan prediksi yang cukup baik.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2689299"/>
            <a:ext cx="9180974" cy="5827191"/>
            <a:chOff x="0" y="0"/>
            <a:chExt cx="2418034" cy="1534733"/>
          </a:xfrm>
        </p:grpSpPr>
        <p:sp>
          <p:nvSpPr>
            <p:cNvPr name="Freeform 4" id="4"/>
            <p:cNvSpPr/>
            <p:nvPr/>
          </p:nvSpPr>
          <p:spPr>
            <a:xfrm flipH="false" flipV="false" rot="0">
              <a:off x="0" y="0"/>
              <a:ext cx="2418034" cy="1534733"/>
            </a:xfrm>
            <a:custGeom>
              <a:avLst/>
              <a:gdLst/>
              <a:ahLst/>
              <a:cxnLst/>
              <a:rect r="r" b="b" t="t" l="l"/>
              <a:pathLst>
                <a:path h="1534733" w="2418034">
                  <a:moveTo>
                    <a:pt x="0" y="0"/>
                  </a:moveTo>
                  <a:lnTo>
                    <a:pt x="2418034" y="0"/>
                  </a:lnTo>
                  <a:lnTo>
                    <a:pt x="2418034" y="1534733"/>
                  </a:lnTo>
                  <a:lnTo>
                    <a:pt x="0" y="1534733"/>
                  </a:lnTo>
                  <a:close/>
                </a:path>
              </a:pathLst>
            </a:custGeom>
            <a:solidFill>
              <a:srgbClr val="FFFFFF">
                <a:alpha val="10980"/>
              </a:srgbClr>
            </a:solidFill>
          </p:spPr>
        </p:sp>
        <p:sp>
          <p:nvSpPr>
            <p:cNvPr name="TextBox 5" id="5"/>
            <p:cNvSpPr txBox="true"/>
            <p:nvPr/>
          </p:nvSpPr>
          <p:spPr>
            <a:xfrm>
              <a:off x="0" y="-47625"/>
              <a:ext cx="2418034" cy="15823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529540" y="4053893"/>
            <a:ext cx="7614460" cy="3133725"/>
          </a:xfrm>
          <a:prstGeom prst="rect">
            <a:avLst/>
          </a:prstGeom>
        </p:spPr>
        <p:txBody>
          <a:bodyPr anchor="t" rtlCol="false" tIns="0" lIns="0" bIns="0" rIns="0">
            <a:spAutoFit/>
          </a:bodyPr>
          <a:lstStyle/>
          <a:p>
            <a:pPr algn="ctr" marL="0" indent="0" lvl="0">
              <a:lnSpc>
                <a:spcPts val="12599"/>
              </a:lnSpc>
              <a:spcBef>
                <a:spcPct val="0"/>
              </a:spcBef>
            </a:pPr>
            <a:r>
              <a:rPr lang="en-US" sz="9000">
                <a:solidFill>
                  <a:srgbClr val="FFFFFF"/>
                </a:solidFill>
                <a:latin typeface="Architype Van Der Leck"/>
                <a:ea typeface="Architype Van Der Leck"/>
                <a:cs typeface="Architype Van Der Leck"/>
                <a:sym typeface="Architype Van Der Leck"/>
              </a:rPr>
              <a:t>Thank you</a:t>
            </a:r>
          </a:p>
        </p:txBody>
      </p:sp>
      <p:sp>
        <p:nvSpPr>
          <p:cNvPr name="Freeform 7" id="7"/>
          <p:cNvSpPr/>
          <p:nvPr/>
        </p:nvSpPr>
        <p:spPr>
          <a:xfrm flipH="false" flipV="false" rot="0">
            <a:off x="11915319" y="2883545"/>
            <a:ext cx="5080002" cy="5364538"/>
          </a:xfrm>
          <a:custGeom>
            <a:avLst/>
            <a:gdLst/>
            <a:ahLst/>
            <a:cxnLst/>
            <a:rect r="r" b="b" t="t" l="l"/>
            <a:pathLst>
              <a:path h="5364538" w="5080002">
                <a:moveTo>
                  <a:pt x="0" y="0"/>
                </a:moveTo>
                <a:lnTo>
                  <a:pt x="5080003" y="0"/>
                </a:lnTo>
                <a:lnTo>
                  <a:pt x="5080003" y="5364538"/>
                </a:lnTo>
                <a:lnTo>
                  <a:pt x="0" y="53645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2573026" y="-63909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10800000">
            <a:off x="282438" y="4083269"/>
            <a:ext cx="544528" cy="530497"/>
            <a:chOff x="0" y="0"/>
            <a:chExt cx="156117" cy="152094"/>
          </a:xfrm>
        </p:grpSpPr>
        <p:sp>
          <p:nvSpPr>
            <p:cNvPr name="Freeform 10" id="10"/>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1" id="11"/>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800000">
            <a:off x="1036199" y="3479849"/>
            <a:ext cx="427597" cy="438623"/>
            <a:chOff x="0" y="0"/>
            <a:chExt cx="122593" cy="125754"/>
          </a:xfrm>
        </p:grpSpPr>
        <p:sp>
          <p:nvSpPr>
            <p:cNvPr name="Freeform 13" id="13"/>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4" id="14"/>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1463796" y="4613766"/>
            <a:ext cx="311166" cy="308157"/>
            <a:chOff x="0" y="0"/>
            <a:chExt cx="89212" cy="88349"/>
          </a:xfrm>
        </p:grpSpPr>
        <p:sp>
          <p:nvSpPr>
            <p:cNvPr name="Freeform 16" id="16"/>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7" id="17"/>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9995875" y="6968307"/>
            <a:ext cx="427597" cy="438623"/>
            <a:chOff x="0" y="0"/>
            <a:chExt cx="122593" cy="125754"/>
          </a:xfrm>
        </p:grpSpPr>
        <p:sp>
          <p:nvSpPr>
            <p:cNvPr name="Freeform 19" id="19"/>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20" id="20"/>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10670249" y="7717117"/>
            <a:ext cx="311166" cy="308157"/>
            <a:chOff x="0" y="0"/>
            <a:chExt cx="89212" cy="88349"/>
          </a:xfrm>
        </p:grpSpPr>
        <p:sp>
          <p:nvSpPr>
            <p:cNvPr name="Freeform 22" id="22"/>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3" id="23"/>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10800000">
            <a:off x="9527771" y="8248083"/>
            <a:ext cx="311166" cy="308157"/>
            <a:chOff x="0" y="0"/>
            <a:chExt cx="89212" cy="88349"/>
          </a:xfrm>
        </p:grpSpPr>
        <p:sp>
          <p:nvSpPr>
            <p:cNvPr name="Freeform 25" id="2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6" id="2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DAHNJj2uJF0</dc:identifier>
  <dcterms:modified xsi:type="dcterms:W3CDTF">2011-08-01T06:04:30Z</dcterms:modified>
  <cp:revision>1</cp:revision>
  <dc:title>Prediksi Diabetes Menggunakan Algoritma Random Forest</dc:title>
</cp:coreProperties>
</file>